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2011680"/>
            <a:ext cx="7315200" cy="7315200"/>
          </a:xfrm>
          <a:prstGeom prst="ellipse">
            <a:avLst/>
          </a:prstGeom>
          <a:solidFill>
            <a:srgbClr val="002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-1371600"/>
            <a:ext cx="6035040" cy="6035040"/>
          </a:xfrm>
          <a:prstGeom prst="ellipse">
            <a:avLst/>
          </a:prstGeom>
          <a:solidFill>
            <a:srgbClr val="002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37360" y="4663440"/>
            <a:ext cx="4389120" cy="4389120"/>
          </a:xfrm>
          <a:prstGeom prst="ellipse">
            <a:avLst/>
          </a:prstGeom>
          <a:solidFill>
            <a:srgbClr val="0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lus Jakarta Sans"/>
              </a:rPr>
              <a:t>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C4FF"/>
                </a:solidFill>
                <a:latin typeface="Inter"/>
              </a:rPr>
              <a:t>INVESTOR &amp; PARTNER PITCH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Plus Jakarta Sans"/>
              </a:rPr>
              <a:t>Great customer service,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B7C4FF"/>
                </a:solidFill>
                <a:latin typeface="Plus Jakarta Sans"/>
              </a:rPr>
              <a:t>with zero waiting.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D4E8"/>
                </a:solidFill>
                <a:latin typeface="Inter"/>
              </a:rPr>
              <a:t>Luma connects appointments, paperwork, payments, and live help behind one queue — so customers never wait twice and staff never repeat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9496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141A26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DE1FF"/>
                </a:solidFill>
                <a:latin typeface="Inter"/>
              </a:rPr>
              <a:t>4.9★ rated · 42 offices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539496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141A26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DE1FF"/>
                </a:solidFill>
                <a:latin typeface="Inter"/>
              </a:rPr>
              <a:t>99.9% paperwork approved first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539496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141A26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DE1FF"/>
                </a:solidFill>
                <a:latin typeface="Inter"/>
              </a:rPr>
              <a:t>4 min average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C4FF"/>
                </a:solidFill>
                <a:latin typeface="Inter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C30"/>
                </a:solidFill>
                <a:latin typeface="Plus Jakarta Sans"/>
              </a:rPr>
              <a:t>You want one simple visit.
But organizations make you jump through six hoops.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697480" cy="2194560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5875">
            <a:solidFill>
              <a:srgbClr val="B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82296" cy="2194560"/>
          </a:xfrm>
          <a:prstGeom prst="rect">
            <a:avLst/>
          </a:prstGeom>
          <a:solidFill>
            <a:srgbClr val="B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017520"/>
            <a:ext cx="2286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A1A1A"/>
                </a:solidFill>
                <a:latin typeface="Inter"/>
              </a:rPr>
              <a:t>✕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Endless waiting lines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Hours on a plastic chair, no idea when your number is called.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743200"/>
            <a:ext cx="2697480" cy="2194560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5875">
            <a:solidFill>
              <a:srgbClr val="B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2743200"/>
            <a:ext cx="82296" cy="2194560"/>
          </a:xfrm>
          <a:prstGeom prst="rect">
            <a:avLst/>
          </a:prstGeom>
          <a:solidFill>
            <a:srgbClr val="B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017520"/>
            <a:ext cx="2286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A1A1A"/>
                </a:solidFill>
                <a:latin typeface="Inter"/>
              </a:rPr>
              <a:t>✕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Turned away at the counter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Missing document discovered after an hour of waiting — start over tomorrow.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743200"/>
            <a:ext cx="2697480" cy="2194560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5875">
            <a:solidFill>
              <a:srgbClr val="B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2743200"/>
            <a:ext cx="82296" cy="2194560"/>
          </a:xfrm>
          <a:prstGeom prst="rect">
            <a:avLst/>
          </a:prstGeom>
          <a:solidFill>
            <a:srgbClr val="B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3017520"/>
            <a:ext cx="2286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A1A1A"/>
                </a:solidFill>
                <a:latin typeface="Inter"/>
              </a:rPr>
              <a:t>✕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Repeating yourself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Every staff member asks the same questions from scratch.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2743200"/>
            <a:ext cx="2697480" cy="2194560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5875">
            <a:solidFill>
              <a:srgbClr val="B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07424" y="2743200"/>
            <a:ext cx="82296" cy="2194560"/>
          </a:xfrm>
          <a:prstGeom prst="rect">
            <a:avLst/>
          </a:prstGeom>
          <a:solidFill>
            <a:srgbClr val="B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6" y="3017520"/>
            <a:ext cx="2286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A1A1A"/>
                </a:solidFill>
                <a:latin typeface="Inter"/>
              </a:rPr>
              <a:t>✕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Surprise fees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Charges disclosed only after the service is done.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30000"/>
            </a:avLst>
          </a:prstGeom>
          <a:solidFill>
            <a:srgbClr val="FF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3000A"/>
                </a:solidFill>
                <a:latin typeface="Inter"/>
              </a:rPr>
              <a:t>Result: wasted hours, tired staff, and angry customers — for something that should take 15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1C30"/>
                </a:solidFill>
                <a:latin typeface="Plus Jakarta Sans"/>
              </a:rPr>
              <a:t>One connected experience. Zero waiting games.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34656"/>
                </a:solidFill>
                <a:latin typeface="Inter"/>
              </a:rPr>
              <a:t>Luma is an operating layer for in-person service: every step of a visit runs on one platform, before the customer ever leaves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697480" cy="228600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342900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0690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Line Saver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Digital tickets with live position. Customers leave home exactly on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3154680"/>
            <a:ext cx="2697480" cy="228600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42900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0690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Paperwork Check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Documents uploaded and AI-verified before the visit. Never turned away.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3154680"/>
            <a:ext cx="2697480" cy="228600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0528" y="342900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0690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Easy Payments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Fees paid from the phone with instant receipts. Zero hidden charges.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3154680"/>
            <a:ext cx="2697480" cy="228600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63456" y="3429000"/>
            <a:ext cx="457200" cy="457200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40690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Staff Help Desk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Serving officers see the full file. Customers never repeat themselves.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C30"/>
                </a:solidFill>
                <a:latin typeface="Plus Jakarta Sans"/>
              </a:rPr>
              <a:t>Watch a visit unfold — seven steps, one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91256"/>
            <a:ext cx="10241280" cy="45720"/>
          </a:xfrm>
          <a:prstGeom prst="rect">
            <a:avLst/>
          </a:prstGeom>
          <a:solidFill>
            <a:srgbClr val="D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191256"/>
            <a:ext cx="7498079" cy="45720"/>
          </a:xfrm>
          <a:prstGeom prst="rect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" y="2980944"/>
            <a:ext cx="475488" cy="475488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5935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Inter"/>
              </a:rPr>
              <a:t>Start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34656"/>
                </a:solidFill>
                <a:latin typeface="Inter"/>
              </a:rPr>
              <a:t>Ticket saved from home</a:t>
            </a:r>
          </a:p>
        </p:txBody>
      </p:sp>
      <p:sp>
        <p:nvSpPr>
          <p:cNvPr id="11" name="Oval 10"/>
          <p:cNvSpPr/>
          <p:nvPr/>
        </p:nvSpPr>
        <p:spPr>
          <a:xfrm>
            <a:off x="2401214" y="2980944"/>
            <a:ext cx="475488" cy="475488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3430" y="35935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Inter"/>
              </a:rPr>
              <a:t>Choose Time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34656"/>
                </a:solidFill>
                <a:latin typeface="Inter"/>
              </a:rPr>
              <a:t>Arrival slot booked</a:t>
            </a:r>
          </a:p>
        </p:txBody>
      </p:sp>
      <p:sp>
        <p:nvSpPr>
          <p:cNvPr id="13" name="Oval 12"/>
          <p:cNvSpPr/>
          <p:nvPr/>
        </p:nvSpPr>
        <p:spPr>
          <a:xfrm>
            <a:off x="4107484" y="2980944"/>
            <a:ext cx="475488" cy="475488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9700" y="35935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Inter"/>
              </a:rPr>
              <a:t>Check Papers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34656"/>
                </a:solidFill>
                <a:latin typeface="Inter"/>
              </a:rPr>
              <a:t>Docs AI-verified</a:t>
            </a:r>
          </a:p>
        </p:txBody>
      </p:sp>
      <p:sp>
        <p:nvSpPr>
          <p:cNvPr id="15" name="Oval 14"/>
          <p:cNvSpPr/>
          <p:nvPr/>
        </p:nvSpPr>
        <p:spPr>
          <a:xfrm>
            <a:off x="5813754" y="2980944"/>
            <a:ext cx="475488" cy="475488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22314" y="2889504"/>
            <a:ext cx="658368" cy="658368"/>
          </a:xfrm>
          <a:prstGeom prst="ellipse">
            <a:avLst/>
          </a:prstGeom>
          <a:solidFill>
            <a:srgbClr val="DD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813754" y="2980944"/>
            <a:ext cx="475488" cy="475488"/>
          </a:xfrm>
          <a:prstGeom prst="ellipse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5970" y="35935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Inter"/>
              </a:rPr>
              <a:t>Pay Fee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34656"/>
                </a:solidFill>
                <a:latin typeface="Inter"/>
              </a:rPr>
              <a:t>Instant receipt</a:t>
            </a:r>
          </a:p>
        </p:txBody>
      </p:sp>
      <p:sp>
        <p:nvSpPr>
          <p:cNvPr id="19" name="Oval 18"/>
          <p:cNvSpPr/>
          <p:nvPr/>
        </p:nvSpPr>
        <p:spPr>
          <a:xfrm>
            <a:off x="7520024" y="2980944"/>
            <a:ext cx="475488" cy="475488"/>
          </a:xfrm>
          <a:prstGeom prst="ellipse">
            <a:avLst/>
          </a:prstGeom>
          <a:solidFill>
            <a:srgbClr val="D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4656"/>
                </a:solidFill>
                <a:latin typeface="Inter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2240" y="35935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4656"/>
                </a:solidFill>
                <a:latin typeface="Inter"/>
              </a:rPr>
              <a:t>Walk In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34656"/>
                </a:solidFill>
                <a:latin typeface="Inter"/>
              </a:rPr>
              <a:t>3rd in line, 6 min</a:t>
            </a:r>
          </a:p>
        </p:txBody>
      </p:sp>
      <p:sp>
        <p:nvSpPr>
          <p:cNvPr id="21" name="Oval 20"/>
          <p:cNvSpPr/>
          <p:nvPr/>
        </p:nvSpPr>
        <p:spPr>
          <a:xfrm>
            <a:off x="9226294" y="2980944"/>
            <a:ext cx="475488" cy="475488"/>
          </a:xfrm>
          <a:prstGeom prst="ellipse">
            <a:avLst/>
          </a:prstGeom>
          <a:solidFill>
            <a:srgbClr val="D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4656"/>
                </a:solidFill>
                <a:latin typeface="Inter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0" y="35935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4656"/>
                </a:solidFill>
                <a:latin typeface="Inter"/>
              </a:rPr>
              <a:t>Get Served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34656"/>
                </a:solidFill>
                <a:latin typeface="Inter"/>
              </a:rPr>
              <a:t>File already open</a:t>
            </a:r>
          </a:p>
        </p:txBody>
      </p:sp>
      <p:sp>
        <p:nvSpPr>
          <p:cNvPr id="23" name="Oval 22"/>
          <p:cNvSpPr/>
          <p:nvPr/>
        </p:nvSpPr>
        <p:spPr>
          <a:xfrm>
            <a:off x="10932564" y="2980944"/>
            <a:ext cx="475488" cy="475488"/>
          </a:xfrm>
          <a:prstGeom prst="ellipse">
            <a:avLst/>
          </a:prstGeom>
          <a:solidFill>
            <a:srgbClr val="D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4656"/>
                </a:solidFill>
                <a:latin typeface="Inter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4780" y="35935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4656"/>
                </a:solidFill>
                <a:latin typeface="Inter"/>
              </a:rPr>
              <a:t>Done Happy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34656"/>
                </a:solidFill>
                <a:latin typeface="Inter"/>
              </a:rPr>
              <a:t>14 min total visit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80560"/>
            <a:ext cx="11091672" cy="123444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EC7"/>
                </a:solidFill>
                <a:latin typeface="Inter"/>
              </a:rPr>
              <a:t>STEP 04 · PAY FEE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0B1C30"/>
                </a:solidFill>
                <a:latin typeface="Inter"/>
              </a:rPr>
              <a:t>$45.00 paid instantly — receipt sent to the customer's phone. Every step above happens automatically for every customer.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C30"/>
                </a:solidFill>
                <a:latin typeface="Plus Jakarta Sans"/>
              </a:rPr>
              <a:t>A real, working platform — not a mockup.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1091672" cy="896112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82296" cy="896112"/>
          </a:xfrm>
          <a:prstGeom prst="rect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05456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05456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4656"/>
                </a:solidFill>
                <a:latin typeface="Inter"/>
              </a:rPr>
              <a:t>React 19 + Vite · Tailwind v4 design system · 24 pages · role-based dashboards for Customers, Branch Officers, Managers, Admins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10711"/>
            <a:ext cx="11091672" cy="896112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10711"/>
            <a:ext cx="82296" cy="896112"/>
          </a:xfrm>
          <a:prstGeom prst="rect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38727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38727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4656"/>
                </a:solidFill>
                <a:latin typeface="Inter"/>
              </a:rPr>
              <a:t>Flask · 16 blueprints / 90+ REST endpoints · JWT auth with 5 roles · marshmallow schemas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43982"/>
            <a:ext cx="11091672" cy="896112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43982"/>
            <a:ext cx="82296" cy="896112"/>
          </a:xfrm>
          <a:prstGeom prst="rect">
            <a:avLst/>
          </a:prstGeom>
          <a:solidFill>
            <a:srgbClr val="007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71998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571998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4656"/>
                </a:solidFill>
                <a:latin typeface="Inter"/>
              </a:rPr>
              <a:t>AI document verification (OCR + field matching) · feedback sentiment &amp; topic analysis · optional Groq/Gemini providers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77253"/>
            <a:ext cx="11091672" cy="896112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477253"/>
            <a:ext cx="82296" cy="896112"/>
          </a:xfrm>
          <a:prstGeom prst="rect">
            <a:avLst/>
          </a:prstGeom>
          <a:solidFill>
            <a:srgbClr val="007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05269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605269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4656"/>
                </a:solidFill>
                <a:latin typeface="Inter"/>
              </a:rPr>
              <a:t>ALAT Authenticator consent-based direct debit · Pay-with-Bank flow · transaction refs &amp; reconciliation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4656"/>
                </a:solidFill>
                <a:latin typeface="Inter"/>
              </a:rPr>
              <a:t>Deploy-ready: PostgreSQL + Gunicorn (Render) · Vercel frontend · seeded demo data for all 5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1C30"/>
                </a:solidFill>
                <a:latin typeface="Plus Jakarta Sans"/>
              </a:rPr>
              <a:t>Three shifts make Luma inevitable.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DE1FF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87168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C30"/>
                </a:solidFill>
                <a:latin typeface="Plus Jakarta Sans"/>
              </a:rPr>
              <a:t>Digital-first customers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434656"/>
                </a:solidFill>
                <a:latin typeface="Inter"/>
              </a:rPr>
              <a:t>People already book flights, order food, and track parcels live. They now expect the same visibility from their bank, hospital, or government office.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67328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DE1FF"/>
                </a:solidFill>
                <a:latin typeface="Plus Jakarta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85616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C30"/>
                </a:solidFill>
                <a:latin typeface="Plus Jakarta Sans"/>
              </a:rPr>
              <a:t>AI made paperwork cheap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434656"/>
                </a:solidFill>
                <a:latin typeface="Inter"/>
              </a:rPr>
              <a:t>Document verification that required back-office staff now runs in seconds — pre-visit checks are finally viable at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65776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DE1FF"/>
                </a:solidFill>
                <a:latin typeface="Plus Jakarta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084064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C30"/>
                </a:solidFill>
                <a:latin typeface="Plus Jakarta Sans"/>
              </a:rPr>
              <a:t>Branches aren't dying — queues are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434656"/>
                </a:solidFill>
                <a:latin typeface="Inter"/>
              </a:rPr>
              <a:t>Complex services still need in-person visits. The winners will be the ones who make the visit itself effortless.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1C30"/>
                </a:solidFill>
                <a:latin typeface="Plus Jakarta Sans"/>
              </a:rPr>
              <a:t>Every counter that makes people wait is our market.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651760" cy="150876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98064"/>
            <a:ext cx="21945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52FF"/>
                </a:solidFill>
                <a:latin typeface="Plus Jakarta Sans"/>
              </a:rPr>
              <a:t>Beachhead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Nigerian commercial bank branches — 5,000+ with daily queue pain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651760"/>
            <a:ext cx="2651760" cy="150876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798064"/>
            <a:ext cx="21945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7550"/>
                </a:solidFill>
                <a:latin typeface="Plus Jakarta Sans"/>
              </a:rPr>
              <a:t>Expansion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Hospitals, clinics &amp; government offices — same queue + paperwork pain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51760"/>
            <a:ext cx="2651760" cy="150876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798064"/>
            <a:ext cx="21945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52FF"/>
                </a:solidFill>
                <a:latin typeface="Plus Jakarta Sans"/>
              </a:rPr>
              <a:t>Platform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Telecoms &amp; online apps — service centres at national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651760"/>
            <a:ext cx="2651760" cy="150876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798064"/>
            <a:ext cx="21945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7550"/>
                </a:solidFill>
                <a:latin typeface="Plus Jakarta Sans"/>
              </a:rPr>
              <a:t>Model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SaaS per branch / month + usage-based payments &amp; verification fees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7000"/>
            </a:avLst>
          </a:prstGeom>
          <a:solidFill>
            <a:srgbClr val="0A0D14"/>
          </a:solidFill>
          <a:ln w="12700">
            <a:solidFill>
              <a:srgbClr val="0A0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C4FF"/>
                </a:solidFill>
                <a:latin typeface="Inter"/>
              </a:rPr>
              <a:t>Sectors we serve today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Banks  ·  Hospitals &amp; Clinics  ·  Government Offices  ·  Phone Companies  ·  Online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1C30"/>
                </a:solidFill>
                <a:latin typeface="Plus Jakarta Sans"/>
              </a:rPr>
              <a:t>Simple, recurring, and tied to real usage.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611880" cy="3291840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005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0175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34656"/>
                </a:solidFill>
                <a:latin typeface="Inter"/>
              </a:rPr>
              <a:t>Starter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3000" b="1" i="0">
                <a:solidFill>
                  <a:srgbClr val="0B1C30"/>
                </a:solidFill>
                <a:latin typeface="Plus Jakarta Sans"/>
              </a:rPr>
              <a:t>$99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434656"/>
                </a:solidFill>
                <a:latin typeface="Inter"/>
              </a:rPr>
              <a:t>/branch/month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B1C30"/>
                </a:solidFill>
                <a:latin typeface="Inter"/>
              </a:rPr>
              <a:t>✓  Digital queue &amp; tickets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B1C30"/>
                </a:solidFill>
                <a:latin typeface="Inter"/>
              </a:rPr>
              <a:t>✓  Appointments &amp; reminders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B1C30"/>
                </a:solidFill>
                <a:latin typeface="Inter"/>
              </a:rPr>
              <a:t>✓  Basic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514600"/>
            <a:ext cx="3611880" cy="3291840"/>
          </a:xfrm>
          <a:prstGeom prst="roundRect">
            <a:avLst>
              <a:gd name="adj" fmla="val 7000"/>
            </a:avLst>
          </a:prstGeom>
          <a:solidFill>
            <a:srgbClr val="0A0D14"/>
          </a:solidFill>
          <a:ln w="12700">
            <a:solidFill>
              <a:srgbClr val="007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23317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6FF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A3C"/>
                </a:solidFill>
                <a:latin typeface="Inter"/>
              </a:rPr>
              <a:t>POPULAR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30175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Growth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Plus Jakarta Sans"/>
              </a:rPr>
              <a:t>$249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B7C4FF"/>
                </a:solidFill>
                <a:latin typeface="Inter"/>
              </a:rPr>
              <a:t>/branch/month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Inter"/>
              </a:rPr>
              <a:t>✓  Everything in Starter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Inter"/>
              </a:rPr>
              <a:t>✓  AI document verification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Inter"/>
              </a:rPr>
              <a:t>✓  Payments &amp; ALAT direct debit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Inter"/>
              </a:rPr>
              <a:t>✓  Feedback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14600"/>
            <a:ext cx="3611880" cy="3291840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005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788920"/>
            <a:ext cx="30175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34656"/>
                </a:solidFill>
                <a:latin typeface="Inter"/>
              </a:rPr>
              <a:t>Enterprise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3000" b="1" i="0">
                <a:solidFill>
                  <a:srgbClr val="0B1C30"/>
                </a:solidFill>
                <a:latin typeface="Plus Jakarta Sans"/>
              </a:rPr>
              <a:t>Custom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434656"/>
                </a:solidFill>
                <a:latin typeface="Inter"/>
              </a:rPr>
              <a:t>per organisation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B1C30"/>
                </a:solidFill>
                <a:latin typeface="Inter"/>
              </a:rPr>
              <a:t>✓  Everything in Growth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B1C30"/>
                </a:solidFill>
                <a:latin typeface="Inter"/>
              </a:rPr>
              <a:t>✓  Multi-branch rollout &amp; SSO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B1C30"/>
                </a:solidFill>
                <a:latin typeface="Inter"/>
              </a:rPr>
              <a:t>✓  API access &amp; integrations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B1C30"/>
                </a:solidFill>
                <a:latin typeface="Inter"/>
              </a:rPr>
              <a:t>✓  Dedicated success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WHY LUMA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C30"/>
                </a:solidFill>
                <a:latin typeface="Plus Jakarta Sans"/>
              </a:rPr>
              <a:t>Point tools fix one hoop. Luma removes the queue.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34656"/>
                </a:solidFill>
                <a:latin typeface="Inter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423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34656"/>
                </a:solidFill>
                <a:latin typeface="Inter"/>
              </a:rPr>
              <a:t>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23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34656"/>
                </a:solidFill>
                <a:latin typeface="Inter"/>
              </a:rPr>
              <a:t>PAPERWORK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42316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34656"/>
                </a:solidFill>
                <a:latin typeface="Inter"/>
              </a:rPr>
              <a:t>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11091672" cy="841248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2"/>
            <a:ext cx="2834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Point queue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907792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Digital tickets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07792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Digital tickets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907792"/>
            <a:ext cx="2331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Digital tickets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58768"/>
            <a:ext cx="11091672" cy="841248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2834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C30"/>
                </a:solidFill>
                <a:latin typeface="Plus Jakarta Sans"/>
              </a:rPr>
              <a:t>Bank's homegrown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886200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Per-bank silo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86200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Per-bank silo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886200"/>
            <a:ext cx="2331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Per-bank silo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37176"/>
            <a:ext cx="11091672" cy="841248"/>
          </a:xfrm>
          <a:prstGeom prst="roundRect">
            <a:avLst>
              <a:gd name="adj" fmla="val 7000"/>
            </a:avLst>
          </a:prstGeom>
          <a:solidFill>
            <a:srgbClr val="0A0D14"/>
          </a:solidFill>
          <a:ln w="12700">
            <a:solidFill>
              <a:srgbClr val="005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64608"/>
            <a:ext cx="2834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lus Jakarta Sans"/>
              </a:rPr>
              <a:t>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864608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C4FF"/>
                </a:solidFill>
                <a:latin typeface="Inter"/>
              </a:rPr>
              <a:t>One connected visit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64608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C4FF"/>
                </a:solidFill>
                <a:latin typeface="Inter"/>
              </a:rPr>
              <a:t>AI paperwork pre-check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864608"/>
            <a:ext cx="2331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C4FF"/>
                </a:solidFill>
                <a:latin typeface="Inter"/>
              </a:rPr>
              <a:t>In-visit payments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907024"/>
            <a:ext cx="11091672" cy="548640"/>
          </a:xfrm>
          <a:prstGeom prst="roundRect">
            <a:avLst>
              <a:gd name="adj" fmla="val 7000"/>
            </a:avLst>
          </a:prstGeom>
          <a:solidFill>
            <a:srgbClr val="DDE1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3EC7"/>
                </a:solidFill>
                <a:latin typeface="Inter"/>
              </a:rPr>
              <a:t>Moat: shared branch learning (BranchConnect) — solutions posted by one office propagate to all 42.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TRACTION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1C30"/>
                </a:solidFill>
                <a:latin typeface="Plus Jakarta Sans"/>
              </a:rPr>
              <a:t>Built and proven. Now we roll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550"/>
                </a:solidFill>
                <a:latin typeface="Inter"/>
              </a:rPr>
              <a:t>SHIPPED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5394960" cy="1993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 i="0">
                <a:solidFill>
                  <a:srgbClr val="007550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Full platform: queue, appointments, documents, payments, feedback, notifications</a:t>
            </a:r>
          </a:p>
          <a:p>
            <a:pPr>
              <a:spcAft>
                <a:spcPts val="1000"/>
              </a:spcAft>
            </a:pPr>
            <a:r>
              <a:rPr sz="1000" b="1" i="0">
                <a:solidFill>
                  <a:srgbClr val="007550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AI document verification &amp; feedback sentiment analysis (pluggable providers)</a:t>
            </a:r>
          </a:p>
          <a:p>
            <a:pPr>
              <a:spcAft>
                <a:spcPts val="1000"/>
              </a:spcAft>
            </a:pPr>
            <a:r>
              <a:rPr sz="1000" b="1" i="0">
                <a:solidFill>
                  <a:srgbClr val="007550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ALAT consent-based payments integration (sandbox-ready)</a:t>
            </a:r>
          </a:p>
          <a:p>
            <a:pPr>
              <a:spcAft>
                <a:spcPts val="1000"/>
              </a:spcAft>
            </a:pPr>
            <a:r>
              <a:rPr sz="1000" b="1" i="0">
                <a:solidFill>
                  <a:srgbClr val="007550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5-role RBAC, audit logs, analytics — deployed configs for Render +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2FF"/>
                </a:solidFill>
                <a:latin typeface="Inter"/>
              </a:rPr>
              <a:t>NEXT 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97480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 i="0">
                <a:solidFill>
                  <a:srgbClr val="0052FF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Pilot: 3 bank branches (design partners)</a:t>
            </a:r>
          </a:p>
          <a:p>
            <a:pPr>
              <a:spcAft>
                <a:spcPts val="1000"/>
              </a:spcAft>
            </a:pPr>
            <a:r>
              <a:rPr sz="1000" b="1" i="0">
                <a:solidFill>
                  <a:srgbClr val="0052FF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WhatsApp-native ticketing &amp; notifications</a:t>
            </a:r>
          </a:p>
          <a:p>
            <a:pPr>
              <a:spcAft>
                <a:spcPts val="1000"/>
              </a:spcAft>
            </a:pPr>
            <a:r>
              <a:rPr sz="1000" b="1" i="0">
                <a:solidFill>
                  <a:srgbClr val="0052FF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Biometric (face) check-in at the counter</a:t>
            </a:r>
          </a:p>
          <a:p>
            <a:pPr>
              <a:spcAft>
                <a:spcPts val="1000"/>
              </a:spcAft>
            </a:pPr>
            <a:r>
              <a:rPr sz="1000" b="1" i="0">
                <a:solidFill>
                  <a:srgbClr val="0052FF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Multi-tenant rollout: hospitals &amp; government offices</a:t>
            </a:r>
          </a:p>
          <a:p>
            <a:pPr>
              <a:spcAft>
                <a:spcPts val="1000"/>
              </a:spcAft>
            </a:pPr>
            <a:r>
              <a:rPr sz="1000" b="1" i="0">
                <a:solidFill>
                  <a:srgbClr val="0052FF"/>
                </a:solidFill>
                <a:latin typeface="Inter"/>
              </a:rPr>
              <a:t>●  </a:t>
            </a:r>
            <a:r>
              <a:rPr sz="1300" b="0" i="0">
                <a:solidFill>
                  <a:srgbClr val="0B1C30"/>
                </a:solidFill>
                <a:latin typeface="Inter"/>
              </a:rPr>
              <a:t>Open API for partner fintechs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11091672" cy="320040"/>
          </a:xfrm>
          <a:prstGeom prst="roundRect">
            <a:avLst>
              <a:gd name="adj" fmla="val 50000"/>
            </a:avLst>
          </a:prstGeom>
          <a:solidFill>
            <a:srgbClr val="D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5394960"/>
            <a:ext cx="4206240" cy="320040"/>
          </a:xfrm>
          <a:prstGeom prst="roundRect">
            <a:avLst>
              <a:gd name="adj" fmla="val 50000"/>
            </a:avLst>
          </a:prstGeom>
          <a:solidFill>
            <a:srgbClr val="007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4656"/>
                </a:solidFill>
                <a:latin typeface="Inter"/>
              </a:rPr>
              <a:t>Product maturity: core platform complete → pilot hardening → multi-sector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C30"/>
                </a:solidFill>
                <a:latin typeface="Plus Jakarta Sans"/>
              </a:rPr>
              <a:t>Raising to turn a working product into a rollout.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82296" cy="1920240"/>
          </a:xfrm>
          <a:prstGeom prst="rect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C30"/>
                </a:solidFill>
                <a:latin typeface="Plus Jakarta Sans"/>
              </a:rPr>
              <a:t>$500K pre-seed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34656"/>
                </a:solidFill>
                <a:latin typeface="Inter"/>
              </a:rPr>
              <a:t>18-month runway to convert 3 design partners into 40+ paying branches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60320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560320"/>
            <a:ext cx="82296" cy="1920240"/>
          </a:xfrm>
          <a:prstGeom prst="rect">
            <a:avLst/>
          </a:prstGeom>
          <a:solidFill>
            <a:srgbClr val="007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83464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C30"/>
                </a:solidFill>
                <a:latin typeface="Plus Jakarta Sans"/>
              </a:rPr>
              <a:t>Pilot engineer + field success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34656"/>
                </a:solidFill>
                <a:latin typeface="Inter"/>
              </a:rPr>
              <a:t>Two hires to harden pilots and make branch onboarding turnkey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60320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DD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82296" cy="1920240"/>
          </a:xfrm>
          <a:prstGeom prst="rect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283464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C30"/>
                </a:solidFill>
                <a:latin typeface="Plus Jakarta Sans"/>
              </a:rPr>
              <a:t>Design-partner intros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34656"/>
                </a:solidFill>
                <a:latin typeface="Inter"/>
              </a:rPr>
              <a:t>Warm intros to branch operations leaders in Nigerian commercial banks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7000"/>
            </a:avLst>
          </a:prstGeom>
          <a:solidFill>
            <a:srgbClr val="0A0D14"/>
          </a:solidFill>
          <a:ln w="12700">
            <a:solidFill>
              <a:srgbClr val="0A0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7C4FF"/>
                </a:solidFill>
                <a:latin typeface="Inter"/>
              </a:rPr>
              <a:t>Team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Inter"/>
              </a:rPr>
              <a:t>Built by a product engineer who has shipped the entire stack — frontend, backend, AI services, and payments — and is ready to scale it with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C30"/>
                </a:solidFill>
                <a:latin typeface="Plus Jakarta Sans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2FF"/>
                </a:solidFill>
                <a:latin typeface="Inter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C30"/>
                </a:solidFill>
                <a:latin typeface="Plus Jakarta Sans"/>
              </a:rPr>
              <a:t>Try it yourself — a seeded account for every role.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4656"/>
                </a:solidFill>
                <a:latin typeface="Inter"/>
              </a:rPr>
              <a:t>The database seeds itself on first boot (SEED_DATA=1) — every account below is live with demo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24912"/>
            <a:ext cx="11091672" cy="64008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24912"/>
            <a:ext cx="82296" cy="640080"/>
          </a:xfrm>
          <a:prstGeom prst="rect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2FF"/>
                </a:solidFill>
                <a:latin typeface="Plus Jakarta Sans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788920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Consolas"/>
              </a:rPr>
              <a:t>david@test.com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788920"/>
            <a:ext cx="5806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4656"/>
                </a:solidFill>
                <a:latin typeface="Inter"/>
              </a:rPr>
              <a:t>Book appointments, join the live queue, upload &amp; verify documents, pay with ALAT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38144"/>
            <a:ext cx="11091672" cy="640080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38144"/>
            <a:ext cx="82296" cy="640080"/>
          </a:xfrm>
          <a:prstGeom prst="rect">
            <a:avLst/>
          </a:prstGeom>
          <a:solidFill>
            <a:srgbClr val="007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502152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7550"/>
                </a:solidFill>
                <a:latin typeface="Plus Jakarta Sans"/>
              </a:rPr>
              <a:t>BRANCH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502152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Consolas"/>
              </a:rPr>
              <a:t>officer1@luma.com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502152"/>
            <a:ext cx="5806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4656"/>
                </a:solidFill>
                <a:latin typeface="Inter"/>
              </a:rPr>
              <a:t>Call the next ticket, review submitted documents, close out visits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51376"/>
            <a:ext cx="11091672" cy="640080"/>
          </a:xfrm>
          <a:prstGeom prst="roundRect">
            <a:avLst>
              <a:gd name="adj" fmla="val 7000"/>
            </a:avLst>
          </a:prstGeom>
          <a:solidFill>
            <a:srgbClr val="F8F9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51376"/>
            <a:ext cx="82296" cy="640080"/>
          </a:xfrm>
          <a:prstGeom prst="rect">
            <a:avLst/>
          </a:prstGeom>
          <a:solidFill>
            <a:srgbClr val="007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215384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7550"/>
                </a:solidFill>
                <a:latin typeface="Plus Jakarta Sans"/>
              </a:rPr>
              <a:t>BRANCH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215384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Consolas"/>
              </a:rPr>
              <a:t>manager1@luma.com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215384"/>
            <a:ext cx="5806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4656"/>
                </a:solidFill>
                <a:latin typeface="Inter"/>
              </a:rPr>
              <a:t>Branch dashboard, appointments, feedback, BranchConnect solutions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64608"/>
            <a:ext cx="11091672" cy="64008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64608"/>
            <a:ext cx="82296" cy="640080"/>
          </a:xfrm>
          <a:prstGeom prst="rect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928616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2FF"/>
                </a:solidFill>
                <a:latin typeface="Plus Jakarta Sans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928616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Consolas"/>
              </a:rPr>
              <a:t>admin@luma.com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928616"/>
            <a:ext cx="5806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4656"/>
                </a:solidFill>
                <a:latin typeface="Inter"/>
              </a:rPr>
              <a:t>Platform analytics, users, branches, services, feedback intelligence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7000"/>
            </a:avLst>
          </a:prstGeom>
          <a:solidFill>
            <a:srgbClr val="EFF4FF"/>
          </a:solidFill>
          <a:ln w="12700">
            <a:solidFill>
              <a:srgbClr val="C3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577840"/>
            <a:ext cx="82296" cy="640080"/>
          </a:xfrm>
          <a:prstGeom prst="rect">
            <a:avLst/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641848"/>
            <a:ext cx="1874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2FF"/>
                </a:solidFill>
                <a:latin typeface="Plus Jakarta Sans"/>
              </a:rPr>
              <a:t>SUPER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641848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C30"/>
                </a:solidFill>
                <a:latin typeface="Consolas"/>
              </a:rPr>
              <a:t>superadmin@luma.com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5641848"/>
            <a:ext cx="5806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4656"/>
                </a:solidFill>
                <a:latin typeface="Inter"/>
              </a:rPr>
              <a:t>Everything above + Social Studio content automation &amp; audit logs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355080"/>
            <a:ext cx="11091672" cy="384048"/>
          </a:xfrm>
          <a:prstGeom prst="roundRect">
            <a:avLst>
              <a:gd name="adj" fmla="val 50000"/>
            </a:avLst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DE1FF"/>
                </a:solidFill>
                <a:latin typeface="Inter"/>
              </a:rPr>
              <a:t>Password for every demo account:  password123    ·    6 customers · 2 officers · 2 managers · 2 admins · 5 branches · 6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4656"/>
                </a:solidFill>
                <a:latin typeface="Inte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108960"/>
            <a:ext cx="5943600" cy="5943600"/>
          </a:xfrm>
          <a:prstGeom prst="ellipse">
            <a:avLst/>
          </a:prstGeom>
          <a:solidFill>
            <a:srgbClr val="002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0536" y="1819656"/>
            <a:ext cx="3127248" cy="3127248"/>
          </a:xfrm>
          <a:prstGeom prst="ellipse">
            <a:avLst/>
          </a:prstGeom>
          <a:noFill/>
          <a:ln w="19050">
            <a:solidFill>
              <a:srgbClr val="005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36608" y="2395728"/>
            <a:ext cx="1975104" cy="1975104"/>
          </a:xfrm>
          <a:prstGeom prst="ellipse">
            <a:avLst/>
          </a:prstGeom>
          <a:noFill/>
          <a:ln w="19050">
            <a:solidFill>
              <a:srgbClr val="005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12680" y="2971800"/>
            <a:ext cx="822960" cy="822960"/>
          </a:xfrm>
          <a:prstGeom prst="ellipse">
            <a:avLst/>
          </a:prstGeom>
          <a:noFill/>
          <a:ln w="19050">
            <a:solidFill>
              <a:srgbClr val="005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977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lus Jakarta Sans"/>
              </a:rPr>
              <a:t>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C4FF"/>
                </a:solidFill>
                <a:latin typeface="Inter"/>
              </a:rPr>
              <a:t>TRY LUMA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Plus Jakarta Sans"/>
              </a:rPr>
              <a:t>No more waiting in lines.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B7C4FF"/>
                </a:solidFill>
                <a:latin typeface="Plus Jakarta Sans"/>
              </a:rPr>
              <a:t>No more guesswork.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8"/>
                </a:solidFill>
                <a:latin typeface="Inter"/>
              </a:rPr>
              <a:t>Give your customers an easy, stress-free experience — and give your staff the tools to help people faster.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2651760" cy="566928"/>
          </a:xfrm>
          <a:prstGeom prst="roundRect">
            <a:avLst>
              <a:gd name="adj" fmla="val 18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hello@luma.com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35838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DE1FF"/>
                </a:solidFill>
                <a:latin typeface="Inter"/>
              </a:rPr>
              <a:t>All systems running smoothly · 99.9% 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C4FF"/>
                </a:solidFill>
                <a:latin typeface="Inter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